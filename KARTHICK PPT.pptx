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Fira Sans" charset="1" panose="020B050305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0627" y="1956892"/>
            <a:ext cx="9913496" cy="204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AI-BASED RESUME SCREENING AND INTERVIEW RECOMMENDATION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0627" y="4093102"/>
            <a:ext cx="9913496" cy="97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85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An AI/ML-Based Decision-Support System for Automated Resume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0627" y="5006149"/>
            <a:ext cx="9913496" cy="174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KARTHICK K (240701231)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RAGUL P (240701410)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COMPUTER SCIENCE AND ENGINEERING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CS23533 - FOUNDATIONS OF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0710" y="554565"/>
            <a:ext cx="16700430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PROBLEM STATEMENT &amp;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710" y="2300307"/>
            <a:ext cx="6176867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0710" y="3071879"/>
            <a:ext cx="6176867" cy="484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Manual resume screening is time-consuming.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Recruiters may receive hundreds of resumes.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Keyword-only matching does not provide comprehensive analysis.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Identifying missing skills and eligibility manually is difficult.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Interview questions are often not personalized.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63891" y="2300307"/>
            <a:ext cx="6634420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3891" y="3071879"/>
            <a:ext cx="6634420" cy="501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Extract information from PDF/DOCX resumes.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Compare resumes with job descriptions.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Calculate transparent matching scores.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Use Machine Learning for candidate classification.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Apply CSP for eligibility checking.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Use AI rules for interview recommendations.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Help recruiters make informed decisions.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41468" y="1984238"/>
            <a:ext cx="3660372" cy="6326562"/>
            <a:chOff x="0" y="0"/>
            <a:chExt cx="4880496" cy="8435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80483" cy="8435467"/>
            </a:xfrm>
            <a:custGeom>
              <a:avLst/>
              <a:gdLst/>
              <a:ahLst/>
              <a:cxnLst/>
              <a:rect r="r" b="b" t="t" l="l"/>
              <a:pathLst>
                <a:path h="8435467" w="4880483">
                  <a:moveTo>
                    <a:pt x="0" y="0"/>
                  </a:moveTo>
                  <a:lnTo>
                    <a:pt x="4880483" y="0"/>
                  </a:lnTo>
                  <a:lnTo>
                    <a:pt x="4880483" y="8435467"/>
                  </a:lnTo>
                  <a:lnTo>
                    <a:pt x="0" y="8435467"/>
                  </a:lnTo>
                  <a:close/>
                </a:path>
              </a:pathLst>
            </a:custGeom>
            <a:solidFill>
              <a:srgbClr val="05123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984635" y="2327405"/>
            <a:ext cx="2974048" cy="5640229"/>
            <a:chOff x="0" y="0"/>
            <a:chExt cx="3965397" cy="752030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965448" cy="7520305"/>
            </a:xfrm>
            <a:custGeom>
              <a:avLst/>
              <a:gdLst/>
              <a:ahLst/>
              <a:cxnLst/>
              <a:rect r="r" b="b" t="t" l="l"/>
              <a:pathLst>
                <a:path h="7520305" w="3965448">
                  <a:moveTo>
                    <a:pt x="0" y="0"/>
                  </a:moveTo>
                  <a:lnTo>
                    <a:pt x="3965448" y="0"/>
                  </a:lnTo>
                  <a:lnTo>
                    <a:pt x="3965448" y="7520305"/>
                  </a:lnTo>
                  <a:lnTo>
                    <a:pt x="0" y="752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" r="1" b="-6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0710" y="8482432"/>
            <a:ext cx="16700430" cy="123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Decision support, not automated hiring.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AI Recommendation – Human Review Required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6967" y="821474"/>
            <a:ext cx="1654791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ARCHITECTURE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888256" y="2180996"/>
            <a:ext cx="2011299" cy="114386"/>
            <a:chOff x="0" y="0"/>
            <a:chExt cx="2681732" cy="152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1732" cy="152527"/>
            </a:xfrm>
            <a:custGeom>
              <a:avLst/>
              <a:gdLst/>
              <a:ahLst/>
              <a:cxnLst/>
              <a:rect r="r" b="b" t="t" l="l"/>
              <a:pathLst>
                <a:path h="152527" w="2681732">
                  <a:moveTo>
                    <a:pt x="0" y="0"/>
                  </a:moveTo>
                  <a:lnTo>
                    <a:pt x="2681732" y="0"/>
                  </a:lnTo>
                  <a:lnTo>
                    <a:pt x="2681732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85017" y="2104882"/>
            <a:ext cx="228771" cy="266910"/>
            <a:chOff x="0" y="0"/>
            <a:chExt cx="305029" cy="3558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48363" y="1733121"/>
            <a:ext cx="1010412" cy="1010441"/>
            <a:chOff x="0" y="0"/>
            <a:chExt cx="1347216" cy="1347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39016" y="1923764"/>
            <a:ext cx="629126" cy="629145"/>
            <a:chOff x="0" y="0"/>
            <a:chExt cx="838835" cy="83886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-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76967" y="2867482"/>
            <a:ext cx="4022588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JOB DESCRIPTION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967" y="3501276"/>
            <a:ext cx="4022588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Requirement Extraction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128327" y="2180996"/>
            <a:ext cx="3908060" cy="114386"/>
            <a:chOff x="0" y="0"/>
            <a:chExt cx="5210746" cy="1525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0683" cy="152527"/>
            </a:xfrm>
            <a:custGeom>
              <a:avLst/>
              <a:gdLst/>
              <a:ahLst/>
              <a:cxnLst/>
              <a:rect r="r" b="b" t="t" l="l"/>
              <a:pathLst>
                <a:path h="152527" w="5210683">
                  <a:moveTo>
                    <a:pt x="0" y="0"/>
                  </a:moveTo>
                  <a:lnTo>
                    <a:pt x="5210683" y="0"/>
                  </a:lnTo>
                  <a:lnTo>
                    <a:pt x="5210683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922001" y="2104882"/>
            <a:ext cx="228771" cy="266910"/>
            <a:chOff x="0" y="0"/>
            <a:chExt cx="305029" cy="3558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99733" y="1733121"/>
            <a:ext cx="1010412" cy="1010441"/>
            <a:chOff x="0" y="0"/>
            <a:chExt cx="1347216" cy="13472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290375" y="1923764"/>
            <a:ext cx="629126" cy="629145"/>
            <a:chOff x="0" y="0"/>
            <a:chExt cx="838835" cy="8388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-3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128327" y="2867482"/>
            <a:ext cx="3908203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RESUME UPLOAD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28327" y="3501276"/>
            <a:ext cx="3908203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PDF/DOCX TEXT EXTRACTION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65310" y="2180996"/>
            <a:ext cx="3965248" cy="114386"/>
            <a:chOff x="0" y="0"/>
            <a:chExt cx="5286997" cy="1525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116173" y="2104882"/>
            <a:ext cx="228771" cy="266910"/>
            <a:chOff x="0" y="0"/>
            <a:chExt cx="305029" cy="35587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36707" y="1733121"/>
            <a:ext cx="1010412" cy="1010441"/>
            <a:chOff x="0" y="0"/>
            <a:chExt cx="1347216" cy="13472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27359" y="1923764"/>
            <a:ext cx="629126" cy="629145"/>
            <a:chOff x="0" y="0"/>
            <a:chExt cx="838835" cy="83886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-3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265310" y="2867482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TEXT PREPROCESSING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65310" y="3501276"/>
            <a:ext cx="3965400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CANDIDATE INFORMATION EXTRACTION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459482" y="2180996"/>
            <a:ext cx="3965248" cy="114386"/>
            <a:chOff x="0" y="0"/>
            <a:chExt cx="5286997" cy="1525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7310344" y="2104882"/>
            <a:ext cx="228771" cy="266910"/>
            <a:chOff x="0" y="0"/>
            <a:chExt cx="305029" cy="35587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430879" y="1733121"/>
            <a:ext cx="1010412" cy="1010441"/>
            <a:chOff x="0" y="0"/>
            <a:chExt cx="1347216" cy="13472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621531" y="1923764"/>
            <a:ext cx="629126" cy="629145"/>
            <a:chOff x="0" y="0"/>
            <a:chExt cx="838835" cy="83886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1" b="-3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3459482" y="2867482"/>
            <a:ext cx="3965400" cy="880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TF-IDF + COSINE SIMILARITY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59482" y="3922490"/>
            <a:ext cx="3965400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SVM CLASSIFICATION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76967" y="5010645"/>
            <a:ext cx="4022446" cy="114386"/>
            <a:chOff x="0" y="0"/>
            <a:chExt cx="5363261" cy="15251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3210" cy="152527"/>
            </a:xfrm>
            <a:custGeom>
              <a:avLst/>
              <a:gdLst/>
              <a:ahLst/>
              <a:cxnLst/>
              <a:rect r="r" b="b" t="t" l="l"/>
              <a:pathLst>
                <a:path h="152527" w="5363210">
                  <a:moveTo>
                    <a:pt x="0" y="0"/>
                  </a:moveTo>
                  <a:lnTo>
                    <a:pt x="5363210" y="0"/>
                  </a:lnTo>
                  <a:lnTo>
                    <a:pt x="53632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785017" y="4934531"/>
            <a:ext cx="228771" cy="266910"/>
            <a:chOff x="0" y="0"/>
            <a:chExt cx="305029" cy="3558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48363" y="4562770"/>
            <a:ext cx="1010412" cy="1010441"/>
            <a:chOff x="0" y="0"/>
            <a:chExt cx="1347216" cy="13472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39016" y="4753413"/>
            <a:ext cx="629126" cy="629145"/>
            <a:chOff x="0" y="0"/>
            <a:chExt cx="838835" cy="83886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1" b="-3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876967" y="5697122"/>
            <a:ext cx="4022588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CSP + BACKTRACKING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76967" y="6330925"/>
            <a:ext cx="4022588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HEURISTIC CANDIDATE RANKING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5128327" y="5010645"/>
            <a:ext cx="3908060" cy="114386"/>
            <a:chOff x="0" y="0"/>
            <a:chExt cx="5210746" cy="15251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10683" cy="152527"/>
            </a:xfrm>
            <a:custGeom>
              <a:avLst/>
              <a:gdLst/>
              <a:ahLst/>
              <a:cxnLst/>
              <a:rect r="r" b="b" t="t" l="l"/>
              <a:pathLst>
                <a:path h="152527" w="5210683">
                  <a:moveTo>
                    <a:pt x="0" y="0"/>
                  </a:moveTo>
                  <a:lnTo>
                    <a:pt x="5210683" y="0"/>
                  </a:lnTo>
                  <a:lnTo>
                    <a:pt x="5210683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922001" y="4934531"/>
            <a:ext cx="228771" cy="266910"/>
            <a:chOff x="0" y="0"/>
            <a:chExt cx="305029" cy="35587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099733" y="4562770"/>
            <a:ext cx="1010412" cy="1010441"/>
            <a:chOff x="0" y="0"/>
            <a:chExt cx="1347216" cy="134725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5290375" y="4753413"/>
            <a:ext cx="629126" cy="629145"/>
            <a:chOff x="0" y="0"/>
            <a:chExt cx="838835" cy="83886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1" b="-3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5128327" y="5697122"/>
            <a:ext cx="3908203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K-MEANS CLUSTERING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128327" y="6330925"/>
            <a:ext cx="3908203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FORWARD-CHAINING RULE ENGINE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265310" y="5010645"/>
            <a:ext cx="4079634" cy="114386"/>
            <a:chOff x="0" y="0"/>
            <a:chExt cx="5439512" cy="15251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39537" cy="152527"/>
            </a:xfrm>
            <a:custGeom>
              <a:avLst/>
              <a:gdLst/>
              <a:ahLst/>
              <a:cxnLst/>
              <a:rect r="r" b="b" t="t" l="l"/>
              <a:pathLst>
                <a:path h="152527" w="5439537">
                  <a:moveTo>
                    <a:pt x="0" y="0"/>
                  </a:moveTo>
                  <a:lnTo>
                    <a:pt x="5439537" y="0"/>
                  </a:lnTo>
                  <a:lnTo>
                    <a:pt x="5439537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236707" y="4562770"/>
            <a:ext cx="1010412" cy="1010441"/>
            <a:chOff x="0" y="0"/>
            <a:chExt cx="1347216" cy="134725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427359" y="4753413"/>
            <a:ext cx="629126" cy="629145"/>
            <a:chOff x="0" y="0"/>
            <a:chExt cx="838835" cy="838860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-1" b="-3"/>
              </a:stretch>
            </a:blip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9265310" y="5697122"/>
            <a:ext cx="815957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INTERVIEW RECOMMENDATION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265310" y="6330925"/>
            <a:ext cx="8159572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DASHBOARD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76967" y="9143000"/>
            <a:ext cx="1742488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Each AI technique has a specific role in the screening pipeline.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0057" y="554565"/>
            <a:ext cx="13802639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AI/ML ALGORITHMS USED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0057" y="1494806"/>
            <a:ext cx="786403" cy="786432"/>
            <a:chOff x="0" y="0"/>
            <a:chExt cx="1048537" cy="1048576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4" b="-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10057" y="2426160"/>
            <a:ext cx="448638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TF-IDF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057" y="3059954"/>
            <a:ext cx="4486389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Convert text into numerical features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325227" y="1494806"/>
            <a:ext cx="786403" cy="786432"/>
            <a:chOff x="0" y="0"/>
            <a:chExt cx="1048537" cy="104857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4" b="-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25227" y="2426160"/>
            <a:ext cx="4372156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Cosine Similarity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25227" y="3059954"/>
            <a:ext cx="4372156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Measure resume–job similarity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6155" y="1494806"/>
            <a:ext cx="786403" cy="786432"/>
            <a:chOff x="0" y="0"/>
            <a:chExt cx="1048537" cy="104857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4" b="-6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26155" y="2426160"/>
            <a:ext cx="448654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SVM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6155" y="3059954"/>
            <a:ext cx="4486542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Classify candidate suitability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0057" y="4121144"/>
            <a:ext cx="786403" cy="786432"/>
            <a:chOff x="0" y="0"/>
            <a:chExt cx="1048537" cy="1048576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4" b="-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0057" y="5052498"/>
            <a:ext cx="448638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K-Means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0057" y="5686292"/>
            <a:ext cx="4486389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Group candidates with similar profiles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25227" y="4121144"/>
            <a:ext cx="786403" cy="786432"/>
            <a:chOff x="0" y="0"/>
            <a:chExt cx="1048537" cy="104857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4" b="-6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325227" y="5052498"/>
            <a:ext cx="4372156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CSP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25227" y="5686292"/>
            <a:ext cx="4372156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Check hard eligibility constraints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6155" y="4121144"/>
            <a:ext cx="786403" cy="786432"/>
            <a:chOff x="0" y="0"/>
            <a:chExt cx="1048537" cy="1048576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4" b="-6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926155" y="5052498"/>
            <a:ext cx="448654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Backtracking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6155" y="5686292"/>
            <a:ext cx="4486542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Solve CSP constraints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10057" y="6747481"/>
            <a:ext cx="786403" cy="786432"/>
            <a:chOff x="0" y="0"/>
            <a:chExt cx="1048537" cy="1048576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4" b="-6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10057" y="7678836"/>
            <a:ext cx="448638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Best-First/Heuristic Search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0057" y="8312629"/>
            <a:ext cx="448638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Prioritize promising candidates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325227" y="6747481"/>
            <a:ext cx="786403" cy="786432"/>
            <a:chOff x="0" y="0"/>
            <a:chExt cx="1048537" cy="104857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-4" b="-6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325227" y="7678836"/>
            <a:ext cx="908746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Forward Chaining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25227" y="8312629"/>
            <a:ext cx="908746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Generate interview recommendations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0057" y="8976779"/>
            <a:ext cx="13802639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These algorithms are actually integrated into the application rather than being mentioned only theoretically.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327792" y="0"/>
            <a:ext cx="2974048" cy="10346731"/>
            <a:chOff x="0" y="0"/>
            <a:chExt cx="3965397" cy="137956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65448" cy="13795629"/>
            </a:xfrm>
            <a:custGeom>
              <a:avLst/>
              <a:gdLst/>
              <a:ahLst/>
              <a:cxnLst/>
              <a:rect r="r" b="b" t="t" l="l"/>
              <a:pathLst>
                <a:path h="13795629" w="3965448">
                  <a:moveTo>
                    <a:pt x="0" y="0"/>
                  </a:moveTo>
                  <a:lnTo>
                    <a:pt x="3965448" y="0"/>
                  </a:lnTo>
                  <a:lnTo>
                    <a:pt x="3965448" y="13795629"/>
                  </a:lnTo>
                  <a:lnTo>
                    <a:pt x="0" y="13795629"/>
                  </a:lnTo>
                  <a:close/>
                </a:path>
              </a:pathLst>
            </a:custGeom>
            <a:solidFill>
              <a:srgbClr val="05123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556563" y="228781"/>
            <a:ext cx="2516505" cy="9889169"/>
            <a:chOff x="0" y="0"/>
            <a:chExt cx="3355340" cy="13185559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355340" cy="13185521"/>
            </a:xfrm>
            <a:custGeom>
              <a:avLst/>
              <a:gdLst/>
              <a:ahLst/>
              <a:cxnLst/>
              <a:rect r="r" b="b" t="t" l="l"/>
              <a:pathLst>
                <a:path h="13185521" w="3355340">
                  <a:moveTo>
                    <a:pt x="0" y="0"/>
                  </a:moveTo>
                  <a:lnTo>
                    <a:pt x="3355340" y="0"/>
                  </a:lnTo>
                  <a:lnTo>
                    <a:pt x="3355340" y="13185521"/>
                  </a:lnTo>
                  <a:lnTo>
                    <a:pt x="0" y="13185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0" b="-2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6967" y="478307"/>
            <a:ext cx="1654791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TF-IDF + COSINE SIMILARITY + SVM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888256" y="1837830"/>
            <a:ext cx="2011299" cy="114386"/>
            <a:chOff x="0" y="0"/>
            <a:chExt cx="2681732" cy="152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1732" cy="152527"/>
            </a:xfrm>
            <a:custGeom>
              <a:avLst/>
              <a:gdLst/>
              <a:ahLst/>
              <a:cxnLst/>
              <a:rect r="r" b="b" t="t" l="l"/>
              <a:pathLst>
                <a:path h="152527" w="2681732">
                  <a:moveTo>
                    <a:pt x="0" y="0"/>
                  </a:moveTo>
                  <a:lnTo>
                    <a:pt x="2681732" y="0"/>
                  </a:lnTo>
                  <a:lnTo>
                    <a:pt x="2681732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85017" y="1761715"/>
            <a:ext cx="228771" cy="266910"/>
            <a:chOff x="0" y="0"/>
            <a:chExt cx="305029" cy="3558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48363" y="1389955"/>
            <a:ext cx="1010412" cy="1010441"/>
            <a:chOff x="0" y="0"/>
            <a:chExt cx="1347216" cy="1347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73715" y="1694926"/>
            <a:ext cx="1474660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967" y="2524306"/>
            <a:ext cx="4022588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Resume + Job Description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28327" y="1837830"/>
            <a:ext cx="3908060" cy="114386"/>
            <a:chOff x="0" y="0"/>
            <a:chExt cx="5210746" cy="1525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0683" cy="152527"/>
            </a:xfrm>
            <a:custGeom>
              <a:avLst/>
              <a:gdLst/>
              <a:ahLst/>
              <a:cxnLst/>
              <a:rect r="r" b="b" t="t" l="l"/>
              <a:pathLst>
                <a:path h="152527" w="5210683">
                  <a:moveTo>
                    <a:pt x="0" y="0"/>
                  </a:moveTo>
                  <a:lnTo>
                    <a:pt x="5210683" y="0"/>
                  </a:lnTo>
                  <a:lnTo>
                    <a:pt x="5210683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22001" y="1761715"/>
            <a:ext cx="228771" cy="266910"/>
            <a:chOff x="0" y="0"/>
            <a:chExt cx="305029" cy="3558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099733" y="1389955"/>
            <a:ext cx="1010412" cy="1010441"/>
            <a:chOff x="0" y="0"/>
            <a:chExt cx="1347216" cy="13472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306311" y="1694926"/>
            <a:ext cx="1512199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8327" y="2524306"/>
            <a:ext cx="3908203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Text Preprocessing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65310" y="1837830"/>
            <a:ext cx="3965248" cy="114386"/>
            <a:chOff x="0" y="0"/>
            <a:chExt cx="5286997" cy="1525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116173" y="1761715"/>
            <a:ext cx="228771" cy="266910"/>
            <a:chOff x="0" y="0"/>
            <a:chExt cx="305029" cy="3558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236707" y="1389955"/>
            <a:ext cx="1010412" cy="1010441"/>
            <a:chOff x="0" y="0"/>
            <a:chExt cx="1347216" cy="13472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442247" y="1694926"/>
            <a:ext cx="1514427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65310" y="2524306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TF-IDF Vectorization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459482" y="1837830"/>
            <a:ext cx="3965248" cy="114386"/>
            <a:chOff x="0" y="0"/>
            <a:chExt cx="5286997" cy="1525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310344" y="1761715"/>
            <a:ext cx="228771" cy="266910"/>
            <a:chOff x="0" y="0"/>
            <a:chExt cx="305029" cy="3558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430879" y="1389955"/>
            <a:ext cx="1010412" cy="1010441"/>
            <a:chOff x="0" y="0"/>
            <a:chExt cx="1347216" cy="13472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3621969" y="1694926"/>
            <a:ext cx="1543174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59482" y="2524306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Cosine Similarity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76967" y="3629777"/>
            <a:ext cx="4022446" cy="114386"/>
            <a:chOff x="0" y="0"/>
            <a:chExt cx="5363261" cy="15251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3210" cy="152527"/>
            </a:xfrm>
            <a:custGeom>
              <a:avLst/>
              <a:gdLst/>
              <a:ahLst/>
              <a:cxnLst/>
              <a:rect r="r" b="b" t="t" l="l"/>
              <a:pathLst>
                <a:path h="152527" w="5363210">
                  <a:moveTo>
                    <a:pt x="0" y="0"/>
                  </a:moveTo>
                  <a:lnTo>
                    <a:pt x="5363210" y="0"/>
                  </a:lnTo>
                  <a:lnTo>
                    <a:pt x="53632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85017" y="3553663"/>
            <a:ext cx="228771" cy="266910"/>
            <a:chOff x="0" y="0"/>
            <a:chExt cx="305029" cy="3558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48363" y="3181902"/>
            <a:ext cx="1010412" cy="1010441"/>
            <a:chOff x="0" y="0"/>
            <a:chExt cx="1347216" cy="134725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047798" y="3486883"/>
            <a:ext cx="1526648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76967" y="4316263"/>
            <a:ext cx="4022588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Similarity Score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128327" y="3629777"/>
            <a:ext cx="3908060" cy="114386"/>
            <a:chOff x="0" y="0"/>
            <a:chExt cx="5210746" cy="15251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0683" cy="152527"/>
            </a:xfrm>
            <a:custGeom>
              <a:avLst/>
              <a:gdLst/>
              <a:ahLst/>
              <a:cxnLst/>
              <a:rect r="r" b="b" t="t" l="l"/>
              <a:pathLst>
                <a:path h="152527" w="5210683">
                  <a:moveTo>
                    <a:pt x="0" y="0"/>
                  </a:moveTo>
                  <a:lnTo>
                    <a:pt x="5210683" y="0"/>
                  </a:lnTo>
                  <a:lnTo>
                    <a:pt x="5210683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22001" y="3553663"/>
            <a:ext cx="228771" cy="266910"/>
            <a:chOff x="0" y="0"/>
            <a:chExt cx="305029" cy="3558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099733" y="3181902"/>
            <a:ext cx="1010412" cy="1010441"/>
            <a:chOff x="0" y="0"/>
            <a:chExt cx="1347216" cy="13472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5291118" y="3486883"/>
            <a:ext cx="1542726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128327" y="4316263"/>
            <a:ext cx="3908203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SVM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265310" y="3629777"/>
            <a:ext cx="4079634" cy="114386"/>
            <a:chOff x="0" y="0"/>
            <a:chExt cx="5439512" cy="1525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39537" cy="152527"/>
            </a:xfrm>
            <a:custGeom>
              <a:avLst/>
              <a:gdLst/>
              <a:ahLst/>
              <a:cxnLst/>
              <a:rect r="r" b="b" t="t" l="l"/>
              <a:pathLst>
                <a:path h="152527" w="5439537">
                  <a:moveTo>
                    <a:pt x="0" y="0"/>
                  </a:moveTo>
                  <a:lnTo>
                    <a:pt x="5439537" y="0"/>
                  </a:lnTo>
                  <a:lnTo>
                    <a:pt x="5439537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236707" y="3181902"/>
            <a:ext cx="1010412" cy="1010441"/>
            <a:chOff x="0" y="0"/>
            <a:chExt cx="1347216" cy="13472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9459678" y="3486883"/>
            <a:ext cx="1479575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07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65310" y="4316263"/>
            <a:ext cx="815957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Suitable / Not Suitable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876967" y="5054879"/>
            <a:ext cx="5210842" cy="4139470"/>
            <a:chOff x="0" y="0"/>
            <a:chExt cx="6947789" cy="551929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47789" cy="5519293"/>
            </a:xfrm>
            <a:custGeom>
              <a:avLst/>
              <a:gdLst/>
              <a:ahLst/>
              <a:cxnLst/>
              <a:rect r="r" b="b" t="t" l="l"/>
              <a:pathLst>
                <a:path h="5519293" w="6947789">
                  <a:moveTo>
                    <a:pt x="0" y="0"/>
                  </a:moveTo>
                  <a:lnTo>
                    <a:pt x="6947789" y="0"/>
                  </a:lnTo>
                  <a:lnTo>
                    <a:pt x="6947789" y="5519293"/>
                  </a:lnTo>
                  <a:lnTo>
                    <a:pt x="0" y="5519293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181995" y="5332819"/>
            <a:ext cx="4600785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C9CFE0"/>
                </a:solidFill>
                <a:latin typeface="Arimo"/>
                <a:ea typeface="Arimo"/>
                <a:cs typeface="Arimo"/>
                <a:sym typeface="Arimo"/>
              </a:rPr>
              <a:t>TF-IDF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81995" y="6113907"/>
            <a:ext cx="4905813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Converts text into numerical vectors.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6545351" y="5054879"/>
            <a:ext cx="5210994" cy="4139470"/>
            <a:chOff x="0" y="0"/>
            <a:chExt cx="6947992" cy="55192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948043" cy="5519293"/>
            </a:xfrm>
            <a:custGeom>
              <a:avLst/>
              <a:gdLst/>
              <a:ahLst/>
              <a:cxnLst/>
              <a:rect r="r" b="b" t="t" l="l"/>
              <a:pathLst>
                <a:path h="5519293" w="6948043">
                  <a:moveTo>
                    <a:pt x="0" y="0"/>
                  </a:moveTo>
                  <a:lnTo>
                    <a:pt x="6948043" y="0"/>
                  </a:lnTo>
                  <a:lnTo>
                    <a:pt x="6948043" y="5519293"/>
                  </a:lnTo>
                  <a:lnTo>
                    <a:pt x="0" y="5519293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6850380" y="5332819"/>
            <a:ext cx="4600927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C9CFE0"/>
                </a:solidFill>
                <a:latin typeface="Arimo"/>
                <a:ea typeface="Arimo"/>
                <a:cs typeface="Arimo"/>
                <a:sym typeface="Arimo"/>
              </a:rPr>
              <a:t>Cosine Similarity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850380" y="6113907"/>
            <a:ext cx="4600927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Measures similarity between resume and job description.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2213888" y="5054879"/>
            <a:ext cx="5210994" cy="4139470"/>
            <a:chOff x="0" y="0"/>
            <a:chExt cx="6947992" cy="551929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48043" cy="5519293"/>
            </a:xfrm>
            <a:custGeom>
              <a:avLst/>
              <a:gdLst/>
              <a:ahLst/>
              <a:cxnLst/>
              <a:rect r="r" b="b" t="t" l="l"/>
              <a:pathLst>
                <a:path h="5519293" w="6948043">
                  <a:moveTo>
                    <a:pt x="0" y="0"/>
                  </a:moveTo>
                  <a:lnTo>
                    <a:pt x="6948043" y="0"/>
                  </a:lnTo>
                  <a:lnTo>
                    <a:pt x="6948043" y="5519293"/>
                  </a:lnTo>
                  <a:lnTo>
                    <a:pt x="0" y="5519293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2518917" y="5332819"/>
            <a:ext cx="4600927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C9CFE0"/>
                </a:solidFill>
                <a:latin typeface="Arimo"/>
                <a:ea typeface="Arimo"/>
                <a:cs typeface="Arimo"/>
                <a:sym typeface="Arimo"/>
              </a:rPr>
              <a:t>SVM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518917" y="6104382"/>
            <a:ext cx="4600927" cy="289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Supervised learning algorithm.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Learns from labelled training data.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Predicts candidate suitability.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76967" y="9409024"/>
            <a:ext cx="17424883" cy="58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2852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Similarity = 84.7% SVM Prediction = Suitable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6967" y="783346"/>
            <a:ext cx="1654791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CSP, BACKTRACKING &amp; HEURISTIC SEARCH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967" y="1723587"/>
            <a:ext cx="8045186" cy="7621638"/>
            <a:chOff x="0" y="0"/>
            <a:chExt cx="10726915" cy="101621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6928" cy="10162159"/>
            </a:xfrm>
            <a:custGeom>
              <a:avLst/>
              <a:gdLst/>
              <a:ahLst/>
              <a:cxnLst/>
              <a:rect r="r" b="b" t="t" l="l"/>
              <a:pathLst>
                <a:path h="10162159" w="10726928">
                  <a:moveTo>
                    <a:pt x="0" y="0"/>
                  </a:moveTo>
                  <a:lnTo>
                    <a:pt x="10726928" y="0"/>
                  </a:lnTo>
                  <a:lnTo>
                    <a:pt x="10726928" y="10162159"/>
                  </a:lnTo>
                  <a:lnTo>
                    <a:pt x="0" y="10162159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58252" y="2192169"/>
            <a:ext cx="7282605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C9CFE0"/>
                </a:solidFill>
                <a:latin typeface="Arimo"/>
                <a:ea typeface="Arimo"/>
                <a:cs typeface="Arimo"/>
                <a:sym typeface="Arimo"/>
              </a:rPr>
              <a:t>Constraint Satisfaction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252" y="2963742"/>
            <a:ext cx="7282605" cy="261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Degree = B.E/B.Tech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Experience ≥ 2 years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Python = Required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Machine Learning = Required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Certification = Required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8252" y="5702389"/>
            <a:ext cx="7282605" cy="202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Candidate ↓ Constraint 1 ↓ Constraint 2 ↓ Constraint 3 ↓ Eligible / Requires Review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Backtracking is used to evaluate constraints and avoid invalid candidate assignments.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79696" y="1723587"/>
            <a:ext cx="8045186" cy="7621638"/>
            <a:chOff x="0" y="0"/>
            <a:chExt cx="10726915" cy="10162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6928" cy="10162159"/>
            </a:xfrm>
            <a:custGeom>
              <a:avLst/>
              <a:gdLst/>
              <a:ahLst/>
              <a:cxnLst/>
              <a:rect r="r" b="b" t="t" l="l"/>
              <a:pathLst>
                <a:path h="10162159" w="10726928">
                  <a:moveTo>
                    <a:pt x="0" y="0"/>
                  </a:moveTo>
                  <a:lnTo>
                    <a:pt x="10726928" y="0"/>
                  </a:lnTo>
                  <a:lnTo>
                    <a:pt x="10726928" y="10162159"/>
                  </a:lnTo>
                  <a:lnTo>
                    <a:pt x="0" y="10162159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60982" y="2192169"/>
            <a:ext cx="7282605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C9CFE0"/>
                </a:solidFill>
                <a:latin typeface="Arimo"/>
                <a:ea typeface="Arimo"/>
                <a:cs typeface="Arimo"/>
                <a:sym typeface="Arimo"/>
              </a:rPr>
              <a:t>Heuristic 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0982" y="2963742"/>
            <a:ext cx="7282605" cy="155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Candidate A → 0.91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Candidate B → 0.83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Candidate C → 0.76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0982" y="4646962"/>
            <a:ext cx="7663891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heuristic combines factors such as: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60982" y="5274764"/>
            <a:ext cx="7282605" cy="261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Skill match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Similarity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Experience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Education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Project relevance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0982" y="8013411"/>
            <a:ext cx="7282605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Best-first search prioritizes the most promising candidate.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6967" y="783346"/>
            <a:ext cx="1654791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KNOWLEDGE-BASED INTERVIEW RECOMMENDATION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967" y="1656912"/>
            <a:ext cx="17424883" cy="58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2852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Python ✓ Machine Learning ✓ SQL ✓ ML Project ✓ TensorFlow ✗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59662" y="2938377"/>
            <a:ext cx="1982695" cy="114386"/>
            <a:chOff x="0" y="0"/>
            <a:chExt cx="2643594" cy="1525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43632" cy="152527"/>
            </a:xfrm>
            <a:custGeom>
              <a:avLst/>
              <a:gdLst/>
              <a:ahLst/>
              <a:cxnLst/>
              <a:rect r="r" b="b" t="t" l="l"/>
              <a:pathLst>
                <a:path h="152527" w="2643632">
                  <a:moveTo>
                    <a:pt x="0" y="0"/>
                  </a:moveTo>
                  <a:lnTo>
                    <a:pt x="2643632" y="0"/>
                  </a:lnTo>
                  <a:lnTo>
                    <a:pt x="2643632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27829" y="2862262"/>
            <a:ext cx="228771" cy="266910"/>
            <a:chOff x="0" y="0"/>
            <a:chExt cx="305029" cy="3558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8363" y="2490502"/>
            <a:ext cx="1010412" cy="1010441"/>
            <a:chOff x="0" y="0"/>
            <a:chExt cx="1347216" cy="13472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73715" y="2795483"/>
            <a:ext cx="1474660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967" y="3624863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FACTS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967" y="4258656"/>
            <a:ext cx="3965400" cy="12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Python</a:t>
            </a:r>
          </a:p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Machine Learning</a:t>
            </a:r>
          </a:p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SQL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71139" y="2938377"/>
            <a:ext cx="3965248" cy="114386"/>
            <a:chOff x="0" y="0"/>
            <a:chExt cx="5286997" cy="1525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922001" y="2862262"/>
            <a:ext cx="228771" cy="266910"/>
            <a:chOff x="0" y="0"/>
            <a:chExt cx="305029" cy="3558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42535" y="2490502"/>
            <a:ext cx="1010412" cy="1010441"/>
            <a:chOff x="0" y="0"/>
            <a:chExt cx="1347216" cy="13472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5249123" y="2795483"/>
            <a:ext cx="1512199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71139" y="3624863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RULE MATCHING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71139" y="4258656"/>
            <a:ext cx="3965400" cy="12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R1: IF Python AND ML → Python + ML Questions</a:t>
            </a:r>
          </a:p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R2: IF SQL → SQL Questions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65310" y="2938377"/>
            <a:ext cx="3965248" cy="114386"/>
            <a:chOff x="0" y="0"/>
            <a:chExt cx="5286997" cy="1525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116173" y="2862262"/>
            <a:ext cx="228771" cy="266910"/>
            <a:chOff x="0" y="0"/>
            <a:chExt cx="305029" cy="3558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236707" y="2490502"/>
            <a:ext cx="1010412" cy="1010441"/>
            <a:chOff x="0" y="0"/>
            <a:chExt cx="1347216" cy="13472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442247" y="2795483"/>
            <a:ext cx="1514427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65310" y="3624863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FORWARD CHAINING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65310" y="4258656"/>
            <a:ext cx="3965400" cy="161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R3: IF ML Project → Project Questions</a:t>
            </a:r>
          </a:p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R4: IF Missing Required Skill → Skill-Gap Questions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459482" y="2938377"/>
            <a:ext cx="1982695" cy="114386"/>
            <a:chOff x="0" y="0"/>
            <a:chExt cx="2643594" cy="1525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43632" cy="152527"/>
            </a:xfrm>
            <a:custGeom>
              <a:avLst/>
              <a:gdLst/>
              <a:ahLst/>
              <a:cxnLst/>
              <a:rect r="r" b="b" t="t" l="l"/>
              <a:pathLst>
                <a:path h="152527" w="2643632">
                  <a:moveTo>
                    <a:pt x="0" y="0"/>
                  </a:moveTo>
                  <a:lnTo>
                    <a:pt x="2643632" y="0"/>
                  </a:lnTo>
                  <a:lnTo>
                    <a:pt x="2643632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430879" y="2490502"/>
            <a:ext cx="1010412" cy="1010441"/>
            <a:chOff x="0" y="0"/>
            <a:chExt cx="1347216" cy="13472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3621969" y="2795483"/>
            <a:ext cx="1543174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59482" y="3624863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RECOMMENDATIONS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59482" y="4258656"/>
            <a:ext cx="3965400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Project Discussion</a:t>
            </a:r>
          </a:p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TensorFlow Fundamentals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76967" y="6219330"/>
            <a:ext cx="3126562" cy="1350931"/>
            <a:chOff x="0" y="0"/>
            <a:chExt cx="4168750" cy="18012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68775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775">
                  <a:moveTo>
                    <a:pt x="0" y="0"/>
                  </a:moveTo>
                  <a:lnTo>
                    <a:pt x="4168775" y="0"/>
                  </a:lnTo>
                  <a:lnTo>
                    <a:pt x="4168775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05738" y="6390951"/>
            <a:ext cx="2897791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Python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4232148" y="6219330"/>
            <a:ext cx="3126715" cy="1350931"/>
            <a:chOff x="0" y="0"/>
            <a:chExt cx="4168953" cy="18012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68902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902">
                  <a:moveTo>
                    <a:pt x="0" y="0"/>
                  </a:moveTo>
                  <a:lnTo>
                    <a:pt x="4168902" y="0"/>
                  </a:lnTo>
                  <a:lnTo>
                    <a:pt x="4168902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4460919" y="6390951"/>
            <a:ext cx="289794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Machine Learning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587491" y="6219330"/>
            <a:ext cx="3126715" cy="1350931"/>
            <a:chOff x="0" y="0"/>
            <a:chExt cx="4168953" cy="180124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8902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902">
                  <a:moveTo>
                    <a:pt x="0" y="0"/>
                  </a:moveTo>
                  <a:lnTo>
                    <a:pt x="4168902" y="0"/>
                  </a:lnTo>
                  <a:lnTo>
                    <a:pt x="4168902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816263" y="6390951"/>
            <a:ext cx="289794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SQL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0942825" y="6219330"/>
            <a:ext cx="3126715" cy="1350931"/>
            <a:chOff x="0" y="0"/>
            <a:chExt cx="4168953" cy="180124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8902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902">
                  <a:moveTo>
                    <a:pt x="0" y="0"/>
                  </a:moveTo>
                  <a:lnTo>
                    <a:pt x="4168902" y="0"/>
                  </a:lnTo>
                  <a:lnTo>
                    <a:pt x="4168902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1171596" y="6390951"/>
            <a:ext cx="289794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Project Discussion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4298168" y="6219330"/>
            <a:ext cx="3126715" cy="1350931"/>
            <a:chOff x="0" y="0"/>
            <a:chExt cx="4168953" cy="180124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68902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902">
                  <a:moveTo>
                    <a:pt x="0" y="0"/>
                  </a:moveTo>
                  <a:lnTo>
                    <a:pt x="4168902" y="0"/>
                  </a:lnTo>
                  <a:lnTo>
                    <a:pt x="4168902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4526939" y="6390951"/>
            <a:ext cx="2669172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TensorFlow Fundamentals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76967" y="9181128"/>
            <a:ext cx="1742488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system explains which rules were triggered.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0710" y="516436"/>
            <a:ext cx="16700430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DASHBOARD &amp; SAMPLE RESULT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710" y="1543964"/>
            <a:ext cx="10287190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Candidate Results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00706" y="2372686"/>
          <a:ext cx="10256913" cy="4632769"/>
        </p:xfrm>
        <a:graphic>
          <a:graphicData uri="http://schemas.openxmlformats.org/drawingml/2006/table">
            <a:tbl>
              <a:tblPr/>
              <a:tblGrid>
                <a:gridCol w="2655463"/>
                <a:gridCol w="1648565"/>
                <a:gridCol w="1648565"/>
                <a:gridCol w="1648565"/>
                <a:gridCol w="2655754"/>
              </a:tblGrid>
              <a:tr h="116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CANDIDATE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MATCH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SVM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CSP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MISSING SKILLS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Rahul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86%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Suitable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Eligible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TensorFlow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Priya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82%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Suitable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Eligible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Docker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3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Arun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68%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Review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Not Eligible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Python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800710" y="9448038"/>
            <a:ext cx="10287190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Candidate match scores: Rahul 86%, Priya 82%, Arun 68%.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45291" y="1931956"/>
            <a:ext cx="4003529" cy="2287791"/>
            <a:chOff x="0" y="0"/>
            <a:chExt cx="5338039" cy="30503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338064" cy="3050413"/>
            </a:xfrm>
            <a:custGeom>
              <a:avLst/>
              <a:gdLst/>
              <a:ahLst/>
              <a:cxnLst/>
              <a:rect r="r" b="b" t="t" l="l"/>
              <a:pathLst>
                <a:path h="3050413" w="5338064">
                  <a:moveTo>
                    <a:pt x="0" y="0"/>
                  </a:moveTo>
                  <a:lnTo>
                    <a:pt x="5338064" y="0"/>
                  </a:lnTo>
                  <a:lnTo>
                    <a:pt x="5338064" y="3050413"/>
                  </a:lnTo>
                  <a:lnTo>
                    <a:pt x="0" y="3050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45291" y="4588240"/>
            <a:ext cx="5955840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Candidate: Rahul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45291" y="5359813"/>
            <a:ext cx="5955840" cy="411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Skill Match: 90%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Similarity: 84.7%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Experience: 3 years / Required 2 years ✓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Education: B.E CSE ✓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SVM: Suitable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CSP: Eligible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Missing Skill: TensorFlow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5095" y="1012127"/>
            <a:ext cx="10371039" cy="141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SYLLABUS MAPPING + ADVANTAGES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2738504"/>
            <a:ext cx="10371039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CS23533 SYLLABUS MAPPING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95" y="3519592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UNIT I: Intelligent Agents; Problem-Solving Agents; Search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3912060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UNIT II: Heuristic Search; Optimization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4304528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UNIT III: CSP; Constraint Propagation; Backtracking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4696997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UNIT IV: Knowledge-Based Agents; Forward Chaining; Inference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95" y="5089474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UNIT V: Supervised Learning; Unsupervised Learning; NLP; AI Applications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01230" y="0"/>
            <a:ext cx="6100610" cy="10295039"/>
            <a:chOff x="0" y="0"/>
            <a:chExt cx="8134147" cy="13726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3409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123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696901" y="571948"/>
            <a:ext cx="5109267" cy="2867482"/>
            <a:chOff x="0" y="0"/>
            <a:chExt cx="6812356" cy="382331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812407" cy="3823335"/>
            </a:xfrm>
            <a:custGeom>
              <a:avLst/>
              <a:gdLst/>
              <a:ahLst/>
              <a:cxnLst/>
              <a:rect r="r" b="b" t="t" l="l"/>
              <a:pathLst>
                <a:path h="3823335" w="6812407">
                  <a:moveTo>
                    <a:pt x="0" y="0"/>
                  </a:moveTo>
                  <a:lnTo>
                    <a:pt x="6812407" y="0"/>
                  </a:lnTo>
                  <a:lnTo>
                    <a:pt x="6812407" y="3823335"/>
                  </a:lnTo>
                  <a:lnTo>
                    <a:pt x="0" y="3823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" r="0" b="-1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696901" y="4060527"/>
            <a:ext cx="5109267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Advantages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96901" y="4832099"/>
            <a:ext cx="5109267" cy="49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Reduces manual screening effort.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Combines symbolic AI and Machine Learning.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Transparent matching score.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Explainable recommendations.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Supports candidate comparison.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Lightweight and locally executable.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867" y="897741"/>
            <a:ext cx="1601410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CONCLUSION &amp; FUTURE ENHANCEMENT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867" y="2527592"/>
            <a:ext cx="7625763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867" y="3299165"/>
            <a:ext cx="7625763" cy="285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The system integrates multiple AI concepts into one practical application: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TF-IDF + Cosine Similarity + SVM + K-Means + CSP &amp; Backtracking + Heuristic Search + Forward Chaining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 provides: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867" y="6376206"/>
            <a:ext cx="7625763" cy="261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Resume analysis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Candidate matching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Eligibility checking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Candidate prioritization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Personalized interview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2210" y="2527592"/>
            <a:ext cx="7625763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32210" y="3299165"/>
            <a:ext cx="7625763" cy="35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Larger real-world labelled dataset.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Transformer-based semantic similarity.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Better NLP and skill extraction.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Multilingual resume support.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Explainable ML techniques.</a:t>
            </a:r>
          </a:p>
          <a:p>
            <a:pPr algn="l" marL="448612" indent="-224306" lvl="1">
              <a:lnSpc>
                <a:spcPts val="3507"/>
              </a:lnSpc>
              <a:buFont typeface="Arial"/>
              <a:buChar char="•"/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Optional Generative AI for interview-question generation.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2210" y="7112289"/>
            <a:ext cx="7625763" cy="195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AI RECOMMENDATION – HUMAN REVIEW REQUIRED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THANK YOU</a:t>
            </a:r>
          </a:p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DAHXcAiWgRo</dc:identifier>
  <dcterms:modified xsi:type="dcterms:W3CDTF">2011-08-01T06:04:30Z</dcterms:modified>
  <cp:revision>1</cp:revision>
  <dc:title>KARTHICK K (240701231) RAGUL P (240701410) COMPUTER SCEINCE AND ENGINEERING CS23533-FOUNDATION OF ARTIFICIAL INTELLIGENCE</dc:title>
</cp:coreProperties>
</file>